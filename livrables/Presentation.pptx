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Chatbot de dépôt de réclamations académiques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FFFFFF"/>
                </a:solidFill>
              </a:rPr>
              <a:t>Projet n°14 — Réception et suivi des réclamations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Laouratou BAH &amp; Sadjo SIDIBÉ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Projet de fin de semestre —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12529"/>
                </a:solidFill>
              </a:rPr>
              <a:t>Contexte et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D6EFD"/>
                </a:solidFill>
              </a:rPr>
              <a:t>Aujourd'hui à l'université…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529"/>
                </a:solidFill>
              </a:rPr>
              <a:t>•  Les étudiants déposent leurs réclamations à l'oral, sur papier ou par message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12529"/>
                </a:solidFill>
              </a:rPr>
              <a:t>•  Pas de traçabilité — réclamations perdues ou oubliées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12529"/>
                </a:solidFill>
              </a:rPr>
              <a:t>•  Pas d'historique fiable, ni pour l'étudiant, ni pour l'administration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12529"/>
                </a:solidFill>
              </a:rPr>
              <a:t>•  Traitement non homogène selon l'interlocuteur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0D6EFD"/>
                </a:solidFill>
              </a:rPr>
              <a:t>→ Besoin d'un canal centralisé et d'un suivi clair, de la soumission à la clôture.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C757D"/>
                </a:solidFill>
              </a:rPr>
              <a:t>Chatbot des réclamations académiques — Projet n°14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C757D"/>
                </a:solidFill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12529"/>
                </a:solidFill>
              </a:rPr>
              <a:t>Notre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6C757D"/>
                </a:solidFill>
              </a:rPr>
              <a:t>Une application web avec deux espaces dédiés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3657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0D6EFD"/>
                </a:solidFill>
              </a:rPr>
              <a:t>🎓 Espace étudiant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Chatbot conversationnel guidé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4 catégories : Notes, Scolarité, Examens, Bourse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Référence unique REC-AAAA-NNN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Suivi du statut en temps réel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Historique des conversations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5486400" cy="3657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0D6EFD"/>
                </a:solidFill>
              </a:rPr>
              <a:t>🛡️ Espace administration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9260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Tableau de bord avec statistiques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Liste filtrable par catégorie et statut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Évolution du statut de la réclamation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Réponse directe à l'étudiant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Création des comptes étudiants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C757D"/>
                </a:solidFill>
              </a:rPr>
              <a:t>Chatbot des réclamations académiques — Projet n°14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C757D"/>
                </a:solidFill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12529"/>
                </a:solidFill>
              </a:rPr>
              <a:t>Stack 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D6EFD"/>
                </a:solidFill>
              </a:rPr>
              <a:t>Technologies choisies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Backend : Django 6 + Django REST Framework + TokenAuthentication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Frontend : Templates Django + Bootstrap 5 + JavaScript vanilla (fetch API)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Base de données : SQLite (dev), modèle relationnel à 3 entités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Versioning : Git + GitHub, workflow main partagé entre les deux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Gestion de projet : Jira (Scrum board) avec 16 tickets répartis sur 2 sprints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D6EFD"/>
                </a:solidFill>
              </a:rPr>
              <a:t>Organisation modulaire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529"/>
                </a:solidFill>
              </a:rPr>
              <a:t>•  users · reclamations · chatbot · frontend (+ config)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C757D"/>
                </a:solidFill>
              </a:rPr>
              <a:t>Chatbot des réclamations académiques — Projet n°14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C757D"/>
                </a:solidFill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12529"/>
                </a:solidFill>
              </a:rPr>
              <a:t>Parcours étudiant — dépôt d'une réclamation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828800" cy="1097280"/>
          </a:xfrm>
          <a:prstGeom prst="round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Connexion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1828800"/>
            <a:ext cx="1828800" cy="1097280"/>
          </a:xfrm>
          <a:prstGeom prst="round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1874519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423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Catégorie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828800"/>
            <a:ext cx="1828800" cy="1097280"/>
          </a:xfrm>
          <a:prstGeom prst="round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874519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2423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199" y="1828800"/>
            <a:ext cx="1828800" cy="1097280"/>
          </a:xfrm>
          <a:prstGeom prst="round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199" y="1874519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199" y="2423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Précisions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828800"/>
            <a:ext cx="1828800" cy="1097280"/>
          </a:xfrm>
          <a:prstGeom prst="round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9" y="1874519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9" y="2423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Récap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21240" y="1828800"/>
            <a:ext cx="1828800" cy="1097280"/>
          </a:xfrm>
          <a:prstGeom prst="round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1874519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23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Référence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83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212529"/>
                </a:solidFill>
              </a:rPr>
              <a:t>Le chatbot guide l'étudiant pas à pas, et pose 2–3 questions de précision adaptées à la catégorie pour fiabiliser le traitement.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D6EFD"/>
                </a:solidFill>
              </a:rPr>
              <a:t>Cycle de vie après dépôt 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12529"/>
                </a:solidFill>
              </a:rPr>
              <a:t>Soumise  →  En cours  →  (En attente d'info)  →  Résolue  →  Clôturée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6C757D"/>
                </a:solidFill>
              </a:rPr>
              <a:t>L'étudiant peut modifier ou supprimer sa réclamation tant qu'elle est Soumise.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C757D"/>
                </a:solidFill>
              </a:rPr>
              <a:t>Chatbot des réclamations académiques — Projet n°14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C757D"/>
                </a:solidFill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12529"/>
                </a:solidFill>
              </a:rPr>
              <a:t>Sécurité et séparation des rôles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D6EFD"/>
                </a:solidFill>
              </a:rPr>
              <a:t>Trois niveaux de privilèges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09728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0D6EFD"/>
                </a:solidFill>
              </a:rPr>
              <a:t>🎓 Étudiant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12529"/>
                </a:solidFill>
              </a:rPr>
              <a:t>Dépose, consulte et suit ses propres réclamations. Modifie/supprime tant que Soumise.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109728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0D6EFD"/>
                </a:solidFill>
              </a:rPr>
              <a:t>🛡️ Administrateur d'université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12529"/>
                </a:solidFill>
              </a:rPr>
              <a:t>Traite toutes les réclamations, fait évoluer le statut, répond, crée les comptes étudiants.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109728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262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0D6EFD"/>
                </a:solidFill>
              </a:rPr>
              <a:t>⚙️ Super-administrateur Django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92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12529"/>
                </a:solidFill>
              </a:rPr>
              <a:t>Crée les administrateurs, accède à l'interface /admin/ de Django pour la gestion technique.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6C757D"/>
                </a:solidFill>
              </a:rPr>
              <a:t>✓ Inscription publique désactivée : seuls les admins peuvent créer un compte étudiant.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C757D"/>
                </a:solidFill>
              </a:rPr>
              <a:t>Chatbot des réclamations académiques — Projet n°14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C757D"/>
                </a:solidFill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12529"/>
                </a:solidFill>
              </a:rPr>
              <a:t>Répartition du travail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64592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00400"/>
                <a:gridCol w="1554480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Membre</a:t>
                      </a:r>
                    </a:p>
                  </a:txBody>
                  <a:tcPr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Module</a:t>
                      </a:r>
                    </a:p>
                  </a:txBody>
                  <a:tcPr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Points</a:t>
                      </a:r>
                    </a:p>
                  </a:txBody>
                  <a:tcPr>
                    <a:solidFill>
                      <a:srgbClr val="0D6EF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12529"/>
                          </a:solidFill>
                        </a:rPr>
                        <a:t>Laouratou BAH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12529"/>
                          </a:solidFill>
                        </a:rPr>
                        <a:t>Étudiant (chatbot, suivi)
+ communs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12529"/>
                          </a:solidFill>
                        </a:rPr>
                        <a:t>22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12529"/>
                          </a:solidFill>
                        </a:rPr>
                        <a:t>Sadjo SIDIBÉ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12529"/>
                          </a:solidFill>
                        </a:rPr>
                        <a:t>Administration (traitement)
+ communs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12529"/>
                          </a:solidFill>
                        </a:rPr>
                        <a:t>21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6C757D"/>
                </a:solidFill>
              </a:rPr>
              <a:t>16 tickets — 2 sprints — charge équilibrée (écart &lt; 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C757D"/>
                </a:solidFill>
              </a:rPr>
              <a:t>Chatbot des réclamations académiques — Projet n°14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C757D"/>
                </a:solidFill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12529"/>
                </a:solidFill>
              </a:rPr>
              <a:t>Conclusion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D6EFD"/>
                </a:solidFill>
              </a:rPr>
              <a:t>Ce que nous avons livré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Application web fonctionnelle de bout en bout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Toutes les fonctionnalités du cahier des charges (Sprint 1 + Sprint 2)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Améliorations au-delà du périmètre : questions de précision, sécurité renforcée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21 tests automatisés OK +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D6EFD"/>
                </a:solidFill>
              </a:rPr>
              <a:t>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Notifications par e-mail à chaque changement de statut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Statistiques avancées (graphiques)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529"/>
                </a:solidFill>
              </a:rPr>
              <a:t>•  Application mobile native consommant l'API existante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C757D"/>
                </a:solidFill>
              </a:rPr>
              <a:t>Chatbot des réclamations académiques — Projet n°14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C757D"/>
                </a:solidFill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