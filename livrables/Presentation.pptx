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38E3F"/>
                </a:solidFill>
                <a:latin typeface="Calibri"/>
              </a:rPr>
              <a:t>PROJET DE FIN DE SEMESTRE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Année universitaire 2025 —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Chatbot de dépôt et de suivi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des réclamations académiques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60520"/>
            <a:ext cx="2286000" cy="36576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FFFFFF"/>
                </a:solidFill>
                <a:latin typeface="Calibri"/>
              </a:rPr>
              <a:t>Projet n°14 — Réception et suivi des réclamations académiques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B38E3F"/>
                </a:solidFill>
                <a:latin typeface="Calibri"/>
              </a:rPr>
              <a:t>Présenté par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32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Laouratou BAH    /    Sadjo SIDIBÉ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808080"/>
                </a:solidFill>
                <a:latin typeface="Calibri"/>
              </a:rPr>
              <a:t>Projet en binôme — Difficulté moyenne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08080"/>
                </a:solidFill>
                <a:latin typeface="Calibri"/>
              </a:rPr>
              <a:t>Chatbot des réclamations académiques  /  Projet n°14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Calibri"/>
              </a:rP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B38E3F"/>
                </a:solidFill>
                <a:latin typeface="Calibri"/>
              </a:rPr>
              <a:t>1.  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Contexte et problématique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828800" cy="36576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4A4A4A"/>
                </a:solidFill>
                <a:latin typeface="Calibri"/>
              </a:rPr>
              <a:t>Une situation actuelle peu satisfaisante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  <a:latin typeface="Calibri"/>
              </a:rPr>
              <a:t>—  Les étudiants déposent leurs réclamations à l'oral, sur papier ou par messages informels.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  <a:latin typeface="Calibri"/>
              </a:rPr>
              <a:t>—  Aucune traçabilité : les dossiers peuvent être perdus ou oubliés.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  <a:latin typeface="Calibri"/>
              </a:rPr>
              <a:t>—  Pas d'historique fiable, ni pour l'étudiant, ni pour l'administration.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  <a:latin typeface="Calibri"/>
              </a:rPr>
              <a:t>—  Traitement hétérogène selon l'interlocuteur sollicité.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029200"/>
            <a:ext cx="1106424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B38E3F"/>
                </a:solidFill>
                <a:latin typeface="Calibri"/>
              </a:rPr>
              <a:t>Besoin identifié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1F3A5F"/>
                </a:solidFill>
                <a:latin typeface="Calibri"/>
              </a:rPr>
              <a:t>Un canal centralisé et un suivi clair, de la soumission jusqu'à la clôture du dossier.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08080"/>
                </a:solidFill>
                <a:latin typeface="Calibri"/>
              </a:rPr>
              <a:t>Chatbot des réclamations académiques  /  Projet n°14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Calibri"/>
              </a:rPr>
              <a:t>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B38E3F"/>
                </a:solidFill>
                <a:latin typeface="Calibri"/>
              </a:rPr>
              <a:t>2.  SOLUTION PROPOSÉE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Une application web à deux espaces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828800" cy="36576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4A4A4A"/>
                </a:solidFill>
                <a:latin typeface="Calibri"/>
              </a:rPr>
              <a:t>Chaque profil dispose d'une interface adaptée à ses besoins.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54864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5486400" cy="3657600"/>
          </a:xfrm>
          <a:prstGeom prst="rect">
            <a:avLst/>
          </a:prstGeom>
          <a:noFill/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5486400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5117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Espace étudiant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12529"/>
                </a:solidFill>
                <a:latin typeface="Calibri"/>
              </a:rPr>
              <a:t>—  Chatbot conversationnel guidé.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12529"/>
                </a:solidFill>
                <a:latin typeface="Calibri"/>
              </a:rPr>
              <a:t>—  Quatre catégories : Notes, Scolarité, Examens, Bourse.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12529"/>
                </a:solidFill>
                <a:latin typeface="Calibri"/>
              </a:rPr>
              <a:t>—  Référence unique au format REC-AAAA-NNN.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12529"/>
                </a:solidFill>
                <a:latin typeface="Calibri"/>
              </a:rPr>
              <a:t>—  Suivi du statut en temps réel.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12529"/>
                </a:solidFill>
                <a:latin typeface="Calibri"/>
              </a:rPr>
              <a:t>—  Historique des conversations.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468880"/>
            <a:ext cx="54864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468880"/>
            <a:ext cx="5486400" cy="3657600"/>
          </a:xfrm>
          <a:prstGeom prst="rect">
            <a:avLst/>
          </a:prstGeom>
          <a:noFill/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468880"/>
            <a:ext cx="5486400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55117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Espace administration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832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12529"/>
                </a:solidFill>
                <a:latin typeface="Calibri"/>
              </a:rPr>
              <a:t>—  Tableau de bord avec statistiques globales.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12529"/>
                </a:solidFill>
                <a:latin typeface="Calibri"/>
              </a:rPr>
              <a:t>—  Liste filtrable par catégorie et par statut.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12529"/>
                </a:solidFill>
                <a:latin typeface="Calibri"/>
              </a:rPr>
              <a:t>—  Évolution du statut de chaque dossier.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12529"/>
                </a:solidFill>
                <a:latin typeface="Calibri"/>
              </a:rPr>
              <a:t>—  Réponse directe à l'étudiant.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12529"/>
                </a:solidFill>
                <a:latin typeface="Calibri"/>
              </a:rPr>
              <a:t>—  Création des comptes étudiants.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08080"/>
                </a:solidFill>
                <a:latin typeface="Calibri"/>
              </a:rPr>
              <a:t>Chatbot des réclamations académiques  /  Projet n°14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Calibri"/>
              </a:rPr>
              <a:t>4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B38E3F"/>
                </a:solidFill>
                <a:latin typeface="Calibri"/>
              </a:rPr>
              <a:t>3.  STACK ET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Choix techniques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828800" cy="36576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Technologies retenues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—  Côté serveur : Django 6 + Django REST Framework + Token Authentication.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—  Côté client : templates Django, Bootstrap 5, JavaScript natif (Fetch API).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—  Base de données : SQLite en développement, modèle relationnel à trois entités.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—  Versionnement : Git et GitHub, workflow main partagé.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—  Gestion de projet : Jira (tableau Scrum), 16 tickets, 2 sprints.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Organisation modulaire du code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—  Applications Django : config, users, reclamations, chatbot, frontend.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12529"/>
                </a:solidFill>
                <a:latin typeface="Calibri"/>
              </a:rPr>
              <a:t>—  Séparation nette entre interface, API REST et persistance.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08080"/>
                </a:solidFill>
                <a:latin typeface="Calibri"/>
              </a:rPr>
              <a:t>Chatbot des réclamations académiques  /  Projet n°14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Calibri"/>
              </a:rP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B38E3F"/>
                </a:solidFill>
                <a:latin typeface="Calibri"/>
              </a:rPr>
              <a:t>4.  PARCOURS UTILISATEUR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3A5F"/>
                </a:solidFill>
                <a:latin typeface="Calibri"/>
              </a:rPr>
              <a:t>Parcours étudiant — dépôt d'une réclamation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828800" cy="36576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828800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B38E3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Connexion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41448" y="2011680"/>
            <a:ext cx="1828800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2057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B38E3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24688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Catégorie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5" y="2011680"/>
            <a:ext cx="1828800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5" y="2057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B38E3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4688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7063" y="2011680"/>
            <a:ext cx="1828800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3" y="2057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B38E3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3" y="24688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Précisions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1" y="2011680"/>
            <a:ext cx="1828800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1" y="2057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B38E3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24688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Récapitulatif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12680" y="2011680"/>
            <a:ext cx="1828800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2057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B38E3F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24688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Référence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337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1">
                <a:solidFill>
                  <a:srgbClr val="4A4A4A"/>
                </a:solidFill>
                <a:latin typeface="Calibri"/>
              </a:rPr>
              <a:t>Le chatbot guide l'étudiant pas à pas et pose deux à trois questions de précision adaptées à la catégorie, afin de fiabiliser le traitement du dossier.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976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Cycle de vie après dépôt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12529"/>
                </a:solidFill>
                <a:latin typeface="Calibri"/>
              </a:rPr>
              <a:t>Soumise   →   En cours   →   (En attente d'info)   →   Résolue   →   Clôturée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808080"/>
                </a:solidFill>
                <a:latin typeface="Calibri"/>
              </a:rPr>
              <a:t>L'étudiant peut modifier ou supprimer sa réclamation tant qu'elle est au statut Soumise.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08080"/>
                </a:solidFill>
                <a:latin typeface="Calibri"/>
              </a:rPr>
              <a:t>Chatbot des réclamations académiques  /  Projet n°14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Calibri"/>
              </a:rPr>
              <a:t>6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B38E3F"/>
                </a:solidFill>
                <a:latin typeface="Calibri"/>
              </a:rPr>
              <a:t>5.  SÉCURITÉ ET RÔLES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Trois niveaux de privilèges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828800" cy="36576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64008" cy="960120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920240"/>
            <a:ext cx="11018520" cy="960120"/>
          </a:xfrm>
          <a:prstGeom prst="rect">
            <a:avLst/>
          </a:prstGeom>
          <a:solidFill>
            <a:srgbClr val="F5F5F5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2996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3A5F"/>
                </a:solidFill>
                <a:latin typeface="Calibri"/>
              </a:rPr>
              <a:t>Étudiant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212529"/>
                </a:solidFill>
                <a:latin typeface="Calibri"/>
              </a:rPr>
              <a:t>Dépose, consulte, modifie et supprime ses propres réclamations tant qu'elles sont au statut Soumise. Suit l'avancement de ses dossiers.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64008" cy="960120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" y="3017520"/>
            <a:ext cx="11018520" cy="960120"/>
          </a:xfrm>
          <a:prstGeom prst="rect">
            <a:avLst/>
          </a:prstGeom>
          <a:solidFill>
            <a:srgbClr val="F5F5F5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272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3A5F"/>
                </a:solidFill>
                <a:latin typeface="Calibri"/>
              </a:rPr>
              <a:t>Administrateur d'université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212529"/>
                </a:solidFill>
                <a:latin typeface="Calibri"/>
              </a:rPr>
              <a:t>Traite l'ensemble des réclamations, fait évoluer leur statut, répond à l'étudiant et crée les comptes étudiants.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64008" cy="960120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" y="4114800"/>
            <a:ext cx="11018520" cy="960120"/>
          </a:xfrm>
          <a:prstGeom prst="rect">
            <a:avLst/>
          </a:prstGeom>
          <a:solidFill>
            <a:srgbClr val="F5F5F5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2452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3A5F"/>
                </a:solidFill>
                <a:latin typeface="Calibri"/>
              </a:rPr>
              <a:t>Super-administrateur Django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212529"/>
                </a:solidFill>
                <a:latin typeface="Calibri"/>
              </a:rPr>
              <a:t>Crée et désactive les administrateurs d'université. Accède à l'interface technique de Django.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4A4A4A"/>
                </a:solidFill>
                <a:latin typeface="Calibri"/>
              </a:rPr>
              <a:t>L'inscription publique est désactivée : seuls les administrateurs habilités peuvent créer des comptes étudiants.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08080"/>
                </a:solidFill>
                <a:latin typeface="Calibri"/>
              </a:rPr>
              <a:t>Chatbot des réclamations académiques  /  Projet n°14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Calibri"/>
              </a:rP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B38E3F"/>
                </a:solidFill>
                <a:latin typeface="Calibri"/>
              </a:rPr>
              <a:t>6.  ORGANISATION DU TRAVAIL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3A5F"/>
                </a:solidFill>
                <a:latin typeface="Calibri"/>
              </a:rPr>
              <a:t>Répartition entre les membres du binôme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828800" cy="36576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71600" y="2103120"/>
          <a:ext cx="9418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846320"/>
                <a:gridCol w="1828800"/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Membre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Module principal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Points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Laouratou BAH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Module étudiant
(chatbot, suivi) + communs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Sadjo SIDIBÉ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Module administration
(traitement) + communs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1F3A5F"/>
                </a:solidFill>
                <a:latin typeface="Calibri"/>
              </a:rPr>
              <a:t>16 tickets   /   2 sprints   /   écart de charge inférieur à 5 %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08080"/>
                </a:solidFill>
                <a:latin typeface="Calibri"/>
              </a:rPr>
              <a:t>Chatbot des réclamations académiques  /  Projet n°14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Calibri"/>
              </a:rPr>
              <a:t>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B38E3F"/>
                </a:solidFill>
                <a:latin typeface="Calibri"/>
              </a:rPr>
              <a:t>7.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Bilan et perspectives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828800" cy="36576"/>
          </a:xfrm>
          <a:prstGeom prst="rect">
            <a:avLst/>
          </a:prstGeom>
          <a:solidFill>
            <a:srgbClr val="B3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Ce que nous avons livré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12529"/>
                </a:solidFill>
                <a:latin typeface="Calibri"/>
              </a:rPr>
              <a:t>—  Application web fonctionnelle de bout en bout.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12529"/>
                </a:solidFill>
                <a:latin typeface="Calibri"/>
              </a:rPr>
              <a:t>—  Intégralité des fonctionnalités du cahier des charges (Sprint 1 et Sprint 2).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12529"/>
                </a:solidFill>
                <a:latin typeface="Calibri"/>
              </a:rPr>
              <a:t>—  Améliorations apportées : précisions obligatoires, sécurité renforcée, gestion des conversations.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12529"/>
                </a:solidFill>
                <a:latin typeface="Calibri"/>
              </a:rPr>
              <a:t>—  Tests automatisés et documentation associée.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Perspectives d'évolution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12529"/>
                </a:solidFill>
                <a:latin typeface="Calibri"/>
              </a:rPr>
              <a:t>—  Notifications par courrier électronique à chaque changement de statut.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12529"/>
                </a:solidFill>
                <a:latin typeface="Calibri"/>
              </a:rPr>
              <a:t>—  Statistiques avancées et représentations graphiques.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12529"/>
                </a:solidFill>
                <a:latin typeface="Calibri"/>
              </a:rPr>
              <a:t>—  Application mobile native consommant l'API REST existante.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F3A5F"/>
                </a:solidFill>
                <a:latin typeface="Calibri"/>
              </a:rPr>
              <a:t>Nous vous remercions pour votre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